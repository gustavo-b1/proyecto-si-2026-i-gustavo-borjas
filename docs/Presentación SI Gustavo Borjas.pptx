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7" r:id="rId3"/>
    <p:sldId id="256" r:id="rId4"/>
    <p:sldId id="265" r:id="rId5"/>
    <p:sldId id="274" r:id="rId6"/>
    <p:sldId id="266" r:id="rId7"/>
    <p:sldId id="258" r:id="rId8"/>
    <p:sldId id="279" r:id="rId9"/>
    <p:sldId id="280" r:id="rId10"/>
    <p:sldId id="268" r:id="rId11"/>
    <p:sldId id="269" r:id="rId12"/>
    <p:sldId id="276" r:id="rId13"/>
    <p:sldId id="275" r:id="rId14"/>
    <p:sldId id="277" r:id="rId15"/>
    <p:sldId id="270" r:id="rId16"/>
    <p:sldId id="278" r:id="rId17"/>
    <p:sldId id="271" r:id="rId18"/>
    <p:sldId id="281" r:id="rId20"/>
    <p:sldId id="272" r:id="rId21"/>
    <p:sldId id="273" r:id="rId22"/>
    <p:sldId id="28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36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50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AA08A3-3CCC-49E6-964C-E1738A6D992D}" type="datetimeFigureOut">
              <a:rPr lang="es-ES" smtClean="0"/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B2CB49-322C-48BB-A333-B208C96D6BAF}" type="slidenum">
              <a:rPr lang="es-ES" smtClean="0"/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Marcador de posición de imagen de diapositiva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Marcador de posición de texto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s-E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  <a:endParaRPr lang="es-ES" smtClean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  <a:endParaRPr lang="es-ES" smtClean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  <a:endParaRPr lang="es-ES" smtClean="0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</a:fld>
            <a:endParaRPr lang="es-V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</a:fld>
            <a:endParaRPr lang="es-V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</a:fld>
            <a:endParaRPr lang="es-V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  <a:endParaRPr lang="es-ES" smtClean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  <a:endParaRPr lang="es-ES" smtClean="0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3B575-880D-49D2-8A82-DE0618B8EED9}" type="datetimeFigureOut">
              <a:rPr lang="es-VE" smtClean="0"/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09156-D94A-49C2-BCAF-F5C01C01892D}" type="slidenum">
              <a:rPr lang="es-VE" smtClean="0"/>
            </a:fld>
            <a:endParaRPr lang="es-V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93B575-880D-49D2-8A82-DE0618B8EED9}" type="datetimeFigureOut">
              <a:rPr lang="es-VE" smtClean="0"/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09156-D94A-49C2-BCAF-F5C01C01892D}" type="slidenum">
              <a:rPr lang="es-VE" smtClean="0"/>
            </a:fld>
            <a:endParaRPr lang="es-V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agen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65" y="282653"/>
            <a:ext cx="1020690" cy="1246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ángulo 4"/>
          <p:cNvSpPr/>
          <p:nvPr/>
        </p:nvSpPr>
        <p:spPr>
          <a:xfrm>
            <a:off x="3214688" y="259255"/>
            <a:ext cx="512921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2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UNIVERSIDAD DEL ZULIA           </a:t>
            </a:r>
            <a:endParaRPr lang="es-VE" sz="2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s-VE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FACULTAD</a:t>
            </a:r>
            <a:r>
              <a:rPr lang="es-VE" sz="2000" spc="-15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EXPERIMENTAL</a:t>
            </a:r>
            <a:r>
              <a:rPr lang="es-VE" sz="2000" spc="-3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</a:t>
            </a:r>
            <a:r>
              <a:rPr lang="es-VE" sz="2000" spc="-2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20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CIENCIAS</a:t>
            </a:r>
            <a:endParaRPr lang="es-VE" sz="20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s-VE" sz="2000" dirty="0" smtClean="0"/>
              <a:t>DIVISIÓN DE PROGRAMAS ESPECIALES</a:t>
            </a:r>
            <a:endParaRPr lang="en-US" sz="2000" dirty="0" smtClean="0"/>
          </a:p>
          <a:p>
            <a:pPr algn="ctr"/>
            <a:r>
              <a:rPr lang="es-VE" sz="2000" dirty="0" smtClean="0"/>
              <a:t>LICENCIATURA EN COMPUTACIÓN</a:t>
            </a:r>
            <a:endParaRPr lang="es-VE" sz="2000" dirty="0"/>
          </a:p>
        </p:txBody>
      </p:sp>
      <p:sp>
        <p:nvSpPr>
          <p:cNvPr id="8" name="Rectángulo 7"/>
          <p:cNvSpPr/>
          <p:nvPr/>
        </p:nvSpPr>
        <p:spPr>
          <a:xfrm>
            <a:off x="1807593" y="2190371"/>
            <a:ext cx="851190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VE" sz="44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DESARROLLO DE SISTEMAS</a:t>
            </a:r>
            <a:endParaRPr lang="es-VE" sz="44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4966552" y="3651566"/>
            <a:ext cx="219392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alt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Rubier Report</a:t>
            </a:r>
            <a:endParaRPr lang="es-ES" altLang="es-VE" sz="2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5649630" y="6199063"/>
            <a:ext cx="155956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VE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PERIODO</a:t>
            </a:r>
            <a:r>
              <a:rPr lang="es-VE" sz="1600" spc="-4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1600" spc="-4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- 202</a:t>
            </a:r>
            <a:r>
              <a:rPr lang="es-ES" altLang="es-VE" sz="1600" spc="-4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endParaRPr lang="es-ES" altLang="es-VE" sz="1600" spc="-4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ángulo 8"/>
          <p:cNvSpPr/>
          <p:nvPr/>
        </p:nvSpPr>
        <p:spPr>
          <a:xfrm>
            <a:off x="21869" y="2926939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PROYECTO FINAL</a:t>
            </a:r>
            <a:endParaRPr lang="es-VE" sz="2800" dirty="0"/>
          </a:p>
        </p:txBody>
      </p:sp>
      <p:sp>
        <p:nvSpPr>
          <p:cNvPr id="11" name="Rectángulo 10"/>
          <p:cNvSpPr/>
          <p:nvPr/>
        </p:nvSpPr>
        <p:spPr>
          <a:xfrm>
            <a:off x="8824264" y="5442419"/>
            <a:ext cx="16509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VE" b="1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Presentado por</a:t>
            </a:r>
            <a:endParaRPr lang="es-VE" b="1" dirty="0"/>
          </a:p>
        </p:txBody>
      </p:sp>
      <p:sp>
        <p:nvSpPr>
          <p:cNvPr id="12" name="Rectángulo 11"/>
          <p:cNvSpPr/>
          <p:nvPr/>
        </p:nvSpPr>
        <p:spPr>
          <a:xfrm>
            <a:off x="9493381" y="5795051"/>
            <a:ext cx="190119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altLang="es-VE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Borjas Gustavo</a:t>
            </a:r>
            <a:r>
              <a:rPr lang="es-VE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s-VE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901" y="186362"/>
            <a:ext cx="1375526" cy="137552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AGENDA</a:t>
            </a:r>
            <a:endParaRPr lang="es-VE" sz="2400" dirty="0"/>
          </a:p>
        </p:txBody>
      </p:sp>
      <p:sp>
        <p:nvSpPr>
          <p:cNvPr id="7" name="CuadroTexto 6"/>
          <p:cNvSpPr txBox="1"/>
          <p:nvPr/>
        </p:nvSpPr>
        <p:spPr>
          <a:xfrm>
            <a:off x="883767" y="1561672"/>
            <a:ext cx="103238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Identificar: entradas, procesos y salidas</a:t>
            </a:r>
            <a:endParaRPr lang="es-VE" sz="2800" dirty="0" smtClean="0"/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Ciclo </a:t>
            </a:r>
            <a:r>
              <a:rPr lang="es-VE" sz="2800" dirty="0" smtClean="0"/>
              <a:t>de Vida seleccionado (resumen)</a:t>
            </a:r>
            <a:endParaRPr lang="es-VE" sz="2800" dirty="0" smtClean="0"/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Tecnologías y Herramientas de Desarrollo</a:t>
            </a:r>
            <a:endParaRPr lang="es-VE" sz="2800" dirty="0" smtClean="0"/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Diagrama de Flujo de Datos (DFD)</a:t>
            </a:r>
            <a:endParaRPr lang="es-VE" sz="2800" dirty="0" smtClean="0"/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Diccionario de Datos (DFD)</a:t>
            </a:r>
            <a:endParaRPr lang="es-VE" sz="2800" dirty="0" smtClean="0"/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Diagrama Entidad – Relación</a:t>
            </a:r>
            <a:endParaRPr lang="es-VE" sz="2800" dirty="0" smtClean="0"/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Diccionario de Datos (</a:t>
            </a:r>
            <a:r>
              <a:rPr lang="es-VE" sz="2800" dirty="0"/>
              <a:t>Diagrama </a:t>
            </a:r>
            <a:r>
              <a:rPr lang="es-VE" sz="2800" dirty="0" smtClean="0"/>
              <a:t>E-R)</a:t>
            </a:r>
            <a:endParaRPr lang="es-VE" sz="2800" dirty="0" smtClean="0"/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Interfaces de Entrada / Salida</a:t>
            </a:r>
            <a:endParaRPr lang="es-VE" sz="2800" dirty="0" smtClean="0"/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Demostración de Pruebas al SI</a:t>
            </a:r>
            <a:endParaRPr lang="es-VE" sz="2800" dirty="0" smtClean="0"/>
          </a:p>
          <a:p>
            <a:pPr marL="539750" indent="-539750">
              <a:buFont typeface="+mj-lt"/>
              <a:buAutoNum type="arabicPeriod"/>
            </a:pPr>
            <a:r>
              <a:rPr lang="es-VE" sz="2800" dirty="0" smtClean="0"/>
              <a:t>Plan de Mantenimiento</a:t>
            </a:r>
            <a:endParaRPr lang="es-VE" sz="2800" dirty="0" smtClean="0"/>
          </a:p>
          <a:p>
            <a:pPr marL="539750" indent="-539750">
              <a:buFont typeface="+mj-lt"/>
              <a:buAutoNum type="arabicPeriod"/>
            </a:pPr>
            <a:r>
              <a:rPr lang="es-VE" sz="2800" dirty="0"/>
              <a:t> </a:t>
            </a:r>
            <a:r>
              <a:rPr lang="es-VE" sz="2800" dirty="0" smtClean="0"/>
              <a:t>Personal que participo (soporte - minuta)</a:t>
            </a:r>
            <a:endParaRPr lang="es-VE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ENTRADA – PROCESOS - SALIDAS</a:t>
            </a:r>
            <a:endParaRPr lang="es-VE" sz="2400" dirty="0"/>
          </a:p>
        </p:txBody>
      </p:sp>
      <p:sp>
        <p:nvSpPr>
          <p:cNvPr id="2" name="Rectángulo 1"/>
          <p:cNvSpPr/>
          <p:nvPr>
            <p:custDataLst>
              <p:tags r:id="rId1"/>
            </p:custDataLst>
          </p:nvPr>
        </p:nvSpPr>
        <p:spPr>
          <a:xfrm>
            <a:off x="4214948" y="1680755"/>
            <a:ext cx="3217818" cy="4802777"/>
          </a:xfrm>
          <a:prstGeom prst="rect">
            <a:avLst/>
          </a:prstGeom>
          <a:ln w="28575">
            <a:solidFill>
              <a:srgbClr val="BD36F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3" name="CuadroTexto 2"/>
          <p:cNvSpPr txBox="1"/>
          <p:nvPr>
            <p:custDataLst>
              <p:tags r:id="rId2"/>
            </p:custDataLst>
          </p:nvPr>
        </p:nvSpPr>
        <p:spPr>
          <a:xfrm>
            <a:off x="8151224" y="1219090"/>
            <a:ext cx="2442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 smtClean="0"/>
              <a:t>SALIDAS</a:t>
            </a:r>
            <a:endParaRPr lang="es-VE" sz="2400" b="1" dirty="0"/>
          </a:p>
        </p:txBody>
      </p:sp>
      <p:sp>
        <p:nvSpPr>
          <p:cNvPr id="7" name="CuadroTexto 6"/>
          <p:cNvSpPr txBox="1"/>
          <p:nvPr>
            <p:custDataLst>
              <p:tags r:id="rId3"/>
            </p:custDataLst>
          </p:nvPr>
        </p:nvSpPr>
        <p:spPr>
          <a:xfrm>
            <a:off x="814252" y="1330839"/>
            <a:ext cx="2442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 smtClean="0"/>
              <a:t>ENTRADAS</a:t>
            </a:r>
            <a:endParaRPr lang="es-VE" sz="2400" b="1" dirty="0"/>
          </a:p>
        </p:txBody>
      </p:sp>
      <p:sp>
        <p:nvSpPr>
          <p:cNvPr id="8" name="CuadroTexto 7"/>
          <p:cNvSpPr txBox="1"/>
          <p:nvPr>
            <p:custDataLst>
              <p:tags r:id="rId4"/>
            </p:custDataLst>
          </p:nvPr>
        </p:nvSpPr>
        <p:spPr>
          <a:xfrm>
            <a:off x="4515395" y="1750313"/>
            <a:ext cx="24427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 smtClean="0">
                <a:solidFill>
                  <a:schemeClr val="bg1"/>
                </a:solidFill>
              </a:rPr>
              <a:t>PROCESOS</a:t>
            </a:r>
            <a:endParaRPr lang="es-VE" sz="2400" b="1" dirty="0">
              <a:solidFill>
                <a:schemeClr val="bg1"/>
              </a:solidFill>
            </a:endParaRPr>
          </a:p>
        </p:txBody>
      </p:sp>
      <p:cxnSp>
        <p:nvCxnSpPr>
          <p:cNvPr id="10" name="Conector recto de flecha 9"/>
          <p:cNvCxnSpPr/>
          <p:nvPr>
            <p:custDataLst>
              <p:tags r:id="rId5"/>
            </p:custDataLst>
          </p:nvPr>
        </p:nvCxnSpPr>
        <p:spPr>
          <a:xfrm>
            <a:off x="635726" y="2364377"/>
            <a:ext cx="3513908" cy="30480"/>
          </a:xfrm>
          <a:prstGeom prst="straightConnector1">
            <a:avLst/>
          </a:prstGeom>
          <a:ln w="38100">
            <a:solidFill>
              <a:srgbClr val="BD36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/>
          <p:cNvCxnSpPr/>
          <p:nvPr>
            <p:custDataLst>
              <p:tags r:id="rId6"/>
            </p:custDataLst>
          </p:nvPr>
        </p:nvCxnSpPr>
        <p:spPr>
          <a:xfrm>
            <a:off x="7432766" y="2379617"/>
            <a:ext cx="3513908" cy="30480"/>
          </a:xfrm>
          <a:prstGeom prst="straightConnector1">
            <a:avLst/>
          </a:prstGeom>
          <a:ln w="38100">
            <a:solidFill>
              <a:srgbClr val="BD36F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 de texto 5"/>
          <p:cNvSpPr txBox="1"/>
          <p:nvPr/>
        </p:nvSpPr>
        <p:spPr>
          <a:xfrm>
            <a:off x="635635" y="2620010"/>
            <a:ext cx="3244850" cy="3716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s-ES" altLang="en-US"/>
          </a:p>
        </p:txBody>
      </p:sp>
      <p:sp>
        <p:nvSpPr>
          <p:cNvPr id="9" name="Cuadro de texto 8"/>
          <p:cNvSpPr txBox="1"/>
          <p:nvPr>
            <p:custDataLst>
              <p:tags r:id="rId7"/>
            </p:custDataLst>
          </p:nvPr>
        </p:nvSpPr>
        <p:spPr>
          <a:xfrm>
            <a:off x="722630" y="2620010"/>
            <a:ext cx="3244850" cy="3716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s-ES" altLang="en-US"/>
              <a:t>#1 Datos de usuario</a:t>
            </a:r>
            <a:endParaRPr lang="es-ES" altLang="en-US"/>
          </a:p>
          <a:p>
            <a:r>
              <a:rPr lang="es-ES" altLang="en-US"/>
              <a:t>#2 Contenido editorial y metadatos</a:t>
            </a:r>
            <a:endParaRPr lang="es-ES" altLang="en-US"/>
          </a:p>
          <a:p>
            <a:r>
              <a:rPr lang="es-ES" altLang="en-US"/>
              <a:t>#3 Parametros de consulta</a:t>
            </a:r>
            <a:endParaRPr lang="es-ES" altLang="en-US"/>
          </a:p>
          <a:p>
            <a:r>
              <a:rPr lang="es-ES" altLang="en-US"/>
              <a:t>#4 Evento de publicacion</a:t>
            </a:r>
            <a:endParaRPr lang="es-ES" altLang="en-US"/>
          </a:p>
          <a:p>
            <a:r>
              <a:rPr lang="es-ES" altLang="en-US"/>
              <a:t>#5 Interaccion del lector</a:t>
            </a:r>
            <a:endParaRPr lang="es-ES" altLang="en-US"/>
          </a:p>
        </p:txBody>
      </p:sp>
      <p:sp>
        <p:nvSpPr>
          <p:cNvPr id="12" name="Cuadro de texto 11"/>
          <p:cNvSpPr txBox="1"/>
          <p:nvPr>
            <p:custDataLst>
              <p:tags r:id="rId8"/>
            </p:custDataLst>
          </p:nvPr>
        </p:nvSpPr>
        <p:spPr>
          <a:xfrm>
            <a:off x="7680325" y="2620010"/>
            <a:ext cx="3244850" cy="3716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s-ES" altLang="en-US"/>
              <a:t>#1 Token de sesion y panel personalizado por rol</a:t>
            </a:r>
            <a:endParaRPr lang="es-ES" altLang="en-US"/>
          </a:p>
          <a:p>
            <a:r>
              <a:rPr lang="es-ES" altLang="en-US"/>
              <a:t>#2 Confirmacion del estado del articulo</a:t>
            </a:r>
            <a:endParaRPr lang="es-ES" altLang="en-US"/>
          </a:p>
          <a:p>
            <a:r>
              <a:rPr lang="es-ES" altLang="en-US"/>
              <a:t>#3 Portada web interactiva y lectura de articulo</a:t>
            </a:r>
            <a:endParaRPr lang="es-ES" altLang="en-US"/>
          </a:p>
          <a:p>
            <a:r>
              <a:rPr lang="es-ES" altLang="en-US"/>
              <a:t>#4 Notificaciones push y avisos en campana</a:t>
            </a:r>
            <a:endParaRPr lang="es-ES" altLang="en-US"/>
          </a:p>
          <a:p>
            <a:r>
              <a:rPr lang="es-ES" altLang="en-US"/>
              <a:t># Panel Analitico</a:t>
            </a:r>
            <a:endParaRPr lang="es-ES" altLang="en-US"/>
          </a:p>
        </p:txBody>
      </p:sp>
      <p:sp>
        <p:nvSpPr>
          <p:cNvPr id="13" name="Cuadro de texto 12"/>
          <p:cNvSpPr txBox="1"/>
          <p:nvPr>
            <p:custDataLst>
              <p:tags r:id="rId9"/>
            </p:custDataLst>
          </p:nvPr>
        </p:nvSpPr>
        <p:spPr>
          <a:xfrm>
            <a:off x="4336415" y="2536825"/>
            <a:ext cx="3088005" cy="3716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s-ES" altLang="en-US"/>
              <a:t>#1 Autenticacion y Control de Acceso</a:t>
            </a:r>
            <a:endParaRPr lang="es-ES" altLang="en-US"/>
          </a:p>
          <a:p>
            <a:r>
              <a:rPr lang="es-ES" altLang="en-US"/>
              <a:t>#2 Gestion de redaccion y flujo editorial</a:t>
            </a:r>
            <a:endParaRPr lang="es-ES" altLang="en-US"/>
          </a:p>
          <a:p>
            <a:r>
              <a:rPr lang="es-ES" altLang="en-US"/>
              <a:t>#3 Emision de alertas push</a:t>
            </a:r>
            <a:endParaRPr lang="es-ES" altLang="en-US"/>
          </a:p>
          <a:p>
            <a:r>
              <a:rPr lang="es-ES" altLang="en-US"/>
              <a:t>#4 Telemetria y analisis de audiencia</a:t>
            </a:r>
            <a:endParaRPr lang="es-E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5" name="Rectángulo 4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CICLO DE VIDA </a:t>
            </a:r>
            <a:r>
              <a:rPr lang="es-ES" altLang="es-VE" sz="2400" dirty="0" smtClean="0"/>
              <a:t>Modelo en Cascada</a:t>
            </a:r>
            <a:endParaRPr lang="es-ES" altLang="es-VE" sz="2400" dirty="0" smtClean="0"/>
          </a:p>
        </p:txBody>
      </p:sp>
      <p:grpSp>
        <p:nvGrpSpPr>
          <p:cNvPr id="27" name="Group 27"/>
          <p:cNvGrpSpPr/>
          <p:nvPr/>
        </p:nvGrpSpPr>
        <p:grpSpPr>
          <a:xfrm>
            <a:off x="1336040" y="2038985"/>
            <a:ext cx="2606675" cy="1830070"/>
            <a:chOff x="-4003887" y="-1611207"/>
            <a:chExt cx="8072073" cy="244026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706368" cy="829056"/>
            </a:xfrm>
            <a:custGeom>
              <a:avLst/>
              <a:gdLst/>
              <a:ahLst/>
              <a:cxnLst/>
              <a:rect l="l" t="t" r="r" b="b"/>
              <a:pathLst>
                <a:path w="3706368" h="829056">
                  <a:moveTo>
                    <a:pt x="0" y="0"/>
                  </a:moveTo>
                  <a:lnTo>
                    <a:pt x="3706368" y="0"/>
                  </a:lnTo>
                  <a:lnTo>
                    <a:pt x="370636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1">
                <a:alphaModFix amt="0"/>
              </a:blip>
              <a:stretch>
                <a:fillRect t="-37109" b="-37109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-4003887" y="-1611207"/>
              <a:ext cx="8072073" cy="8670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FFFFFF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2. Análisis</a:t>
              </a:r>
              <a:endParaRPr lang="en-US" sz="19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665605" y="3253105"/>
            <a:ext cx="2047240" cy="1045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Estudio de entidades, flujos DFD niveles 0-2 y definición de diccionarios.</a:t>
            </a:r>
            <a:endParaRPr lang="en-US" sz="17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3889375" y="3240405"/>
            <a:ext cx="2430145" cy="55753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Modelo E-R, diseño de BD SQLite3 (9 tablas)</a:t>
            </a:r>
            <a:endParaRPr lang="en-US" sz="17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grpSp>
        <p:nvGrpSpPr>
          <p:cNvPr id="110" name="Group 24"/>
          <p:cNvGrpSpPr/>
          <p:nvPr/>
        </p:nvGrpSpPr>
        <p:grpSpPr>
          <a:xfrm>
            <a:off x="1194435" y="1131570"/>
            <a:ext cx="1678940" cy="5679440"/>
            <a:chOff x="0" y="0"/>
            <a:chExt cx="3740239" cy="6729717"/>
          </a:xfrm>
          <a:solidFill>
            <a:schemeClr val="accent1">
              <a:lumMod val="50000"/>
            </a:schemeClr>
          </a:solidFill>
        </p:grpSpPr>
        <p:sp>
          <p:nvSpPr>
            <p:cNvPr id="111" name="Freeform 25"/>
            <p:cNvSpPr/>
            <p:nvPr/>
          </p:nvSpPr>
          <p:spPr>
            <a:xfrm>
              <a:off x="16891" y="16891"/>
              <a:ext cx="3706368" cy="6695948"/>
            </a:xfrm>
            <a:custGeom>
              <a:avLst/>
              <a:gdLst/>
              <a:ahLst/>
              <a:cxnLst/>
              <a:rect l="l" t="t" r="r" b="b"/>
              <a:pathLst>
                <a:path w="3706368" h="6695948">
                  <a:moveTo>
                    <a:pt x="0" y="0"/>
                  </a:moveTo>
                  <a:lnTo>
                    <a:pt x="3706368" y="0"/>
                  </a:lnTo>
                  <a:lnTo>
                    <a:pt x="3706368" y="6695948"/>
                  </a:lnTo>
                  <a:lnTo>
                    <a:pt x="0" y="6695948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</p:sp>
        <p:sp>
          <p:nvSpPr>
            <p:cNvPr id="112" name="Freeform 26"/>
            <p:cNvSpPr/>
            <p:nvPr/>
          </p:nvSpPr>
          <p:spPr>
            <a:xfrm>
              <a:off x="0" y="0"/>
              <a:ext cx="3740150" cy="6729730"/>
            </a:xfrm>
            <a:custGeom>
              <a:avLst/>
              <a:gdLst/>
              <a:ahLst/>
              <a:cxnLst/>
              <a:rect l="l" t="t" r="r" b="b"/>
              <a:pathLst>
                <a:path w="3740150" h="6729730">
                  <a:moveTo>
                    <a:pt x="16891" y="0"/>
                  </a:moveTo>
                  <a:lnTo>
                    <a:pt x="3723259" y="0"/>
                  </a:lnTo>
                  <a:cubicBezTo>
                    <a:pt x="3732657" y="0"/>
                    <a:pt x="3740150" y="7620"/>
                    <a:pt x="3740150" y="16891"/>
                  </a:cubicBezTo>
                  <a:lnTo>
                    <a:pt x="3740150" y="6712839"/>
                  </a:lnTo>
                  <a:cubicBezTo>
                    <a:pt x="3740150" y="6722237"/>
                    <a:pt x="3732530" y="6729730"/>
                    <a:pt x="3723259" y="6729730"/>
                  </a:cubicBezTo>
                  <a:lnTo>
                    <a:pt x="16891" y="6729730"/>
                  </a:lnTo>
                  <a:cubicBezTo>
                    <a:pt x="7493" y="6729730"/>
                    <a:pt x="0" y="6722110"/>
                    <a:pt x="0" y="67128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712839"/>
                  </a:lnTo>
                  <a:lnTo>
                    <a:pt x="16891" y="6712839"/>
                  </a:lnTo>
                  <a:lnTo>
                    <a:pt x="16891" y="6695948"/>
                  </a:lnTo>
                  <a:lnTo>
                    <a:pt x="3723259" y="6695948"/>
                  </a:lnTo>
                  <a:lnTo>
                    <a:pt x="3723259" y="6712839"/>
                  </a:lnTo>
                  <a:lnTo>
                    <a:pt x="3706368" y="6712839"/>
                  </a:lnTo>
                  <a:lnTo>
                    <a:pt x="3706368" y="16891"/>
                  </a:lnTo>
                  <a:lnTo>
                    <a:pt x="3723259" y="16891"/>
                  </a:lnTo>
                  <a:lnTo>
                    <a:pt x="372325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</p:sp>
      </p:grpSp>
      <p:grpSp>
        <p:nvGrpSpPr>
          <p:cNvPr id="119" name="Group 24"/>
          <p:cNvGrpSpPr/>
          <p:nvPr/>
        </p:nvGrpSpPr>
        <p:grpSpPr>
          <a:xfrm>
            <a:off x="2865755" y="2074545"/>
            <a:ext cx="1617345" cy="4722495"/>
            <a:chOff x="0" y="0"/>
            <a:chExt cx="3740239" cy="6729717"/>
          </a:xfrm>
          <a:solidFill>
            <a:schemeClr val="accent1">
              <a:lumMod val="50000"/>
            </a:schemeClr>
          </a:solidFill>
        </p:grpSpPr>
        <p:sp>
          <p:nvSpPr>
            <p:cNvPr id="120" name="Freeform 25"/>
            <p:cNvSpPr/>
            <p:nvPr/>
          </p:nvSpPr>
          <p:spPr>
            <a:xfrm>
              <a:off x="16891" y="16891"/>
              <a:ext cx="3706368" cy="6695948"/>
            </a:xfrm>
            <a:custGeom>
              <a:avLst/>
              <a:gdLst/>
              <a:ahLst/>
              <a:cxnLst/>
              <a:rect l="l" t="t" r="r" b="b"/>
              <a:pathLst>
                <a:path w="3706368" h="6695948">
                  <a:moveTo>
                    <a:pt x="0" y="0"/>
                  </a:moveTo>
                  <a:lnTo>
                    <a:pt x="3706368" y="0"/>
                  </a:lnTo>
                  <a:lnTo>
                    <a:pt x="3706368" y="6695948"/>
                  </a:lnTo>
                  <a:lnTo>
                    <a:pt x="0" y="6695948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</p:sp>
        <p:sp>
          <p:nvSpPr>
            <p:cNvPr id="121" name="Freeform 26"/>
            <p:cNvSpPr/>
            <p:nvPr/>
          </p:nvSpPr>
          <p:spPr>
            <a:xfrm>
              <a:off x="0" y="0"/>
              <a:ext cx="3740150" cy="6729730"/>
            </a:xfrm>
            <a:custGeom>
              <a:avLst/>
              <a:gdLst/>
              <a:ahLst/>
              <a:cxnLst/>
              <a:rect l="l" t="t" r="r" b="b"/>
              <a:pathLst>
                <a:path w="3740150" h="6729730">
                  <a:moveTo>
                    <a:pt x="16891" y="0"/>
                  </a:moveTo>
                  <a:lnTo>
                    <a:pt x="3723259" y="0"/>
                  </a:lnTo>
                  <a:cubicBezTo>
                    <a:pt x="3732657" y="0"/>
                    <a:pt x="3740150" y="7620"/>
                    <a:pt x="3740150" y="16891"/>
                  </a:cubicBezTo>
                  <a:lnTo>
                    <a:pt x="3740150" y="6712839"/>
                  </a:lnTo>
                  <a:cubicBezTo>
                    <a:pt x="3740150" y="6722237"/>
                    <a:pt x="3732530" y="6729730"/>
                    <a:pt x="3723259" y="6729730"/>
                  </a:cubicBezTo>
                  <a:lnTo>
                    <a:pt x="16891" y="6729730"/>
                  </a:lnTo>
                  <a:cubicBezTo>
                    <a:pt x="7493" y="6729730"/>
                    <a:pt x="0" y="6722110"/>
                    <a:pt x="0" y="67128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712839"/>
                  </a:lnTo>
                  <a:lnTo>
                    <a:pt x="16891" y="6712839"/>
                  </a:lnTo>
                  <a:lnTo>
                    <a:pt x="16891" y="6695948"/>
                  </a:lnTo>
                  <a:lnTo>
                    <a:pt x="3723259" y="6695948"/>
                  </a:lnTo>
                  <a:lnTo>
                    <a:pt x="3723259" y="6712839"/>
                  </a:lnTo>
                  <a:lnTo>
                    <a:pt x="3706368" y="6712839"/>
                  </a:lnTo>
                  <a:lnTo>
                    <a:pt x="3706368" y="16891"/>
                  </a:lnTo>
                  <a:lnTo>
                    <a:pt x="3723259" y="16891"/>
                  </a:lnTo>
                  <a:lnTo>
                    <a:pt x="372325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</p:sp>
      </p:grpSp>
      <p:grpSp>
        <p:nvGrpSpPr>
          <p:cNvPr id="123" name="Group 44"/>
          <p:cNvGrpSpPr/>
          <p:nvPr/>
        </p:nvGrpSpPr>
        <p:grpSpPr>
          <a:xfrm>
            <a:off x="4455160" y="2999105"/>
            <a:ext cx="1625600" cy="3785870"/>
            <a:chOff x="0" y="0"/>
            <a:chExt cx="3825789" cy="4219702"/>
          </a:xfrm>
          <a:solidFill>
            <a:schemeClr val="accent1">
              <a:lumMod val="75000"/>
            </a:schemeClr>
          </a:solidFill>
        </p:grpSpPr>
        <p:sp>
          <p:nvSpPr>
            <p:cNvPr id="124" name="Freeform 45"/>
            <p:cNvSpPr/>
            <p:nvPr/>
          </p:nvSpPr>
          <p:spPr>
            <a:xfrm>
              <a:off x="17110" y="16886"/>
              <a:ext cx="3808679" cy="4186019"/>
            </a:xfrm>
            <a:custGeom>
              <a:avLst/>
              <a:gdLst/>
              <a:ahLst/>
              <a:cxnLst/>
              <a:rect l="l" t="t" r="r" b="b"/>
              <a:pathLst>
                <a:path w="3706368" h="4185920">
                  <a:moveTo>
                    <a:pt x="0" y="0"/>
                  </a:moveTo>
                  <a:lnTo>
                    <a:pt x="3706368" y="0"/>
                  </a:lnTo>
                  <a:lnTo>
                    <a:pt x="3706368" y="4185920"/>
                  </a:lnTo>
                  <a:lnTo>
                    <a:pt x="0" y="4185920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/>
            <a:p>
              <a:endParaRPr lang="es-ES" altLang="en-US"/>
            </a:p>
          </p:txBody>
        </p:sp>
        <p:sp>
          <p:nvSpPr>
            <p:cNvPr id="125" name="Freeform 46"/>
            <p:cNvSpPr/>
            <p:nvPr/>
          </p:nvSpPr>
          <p:spPr>
            <a:xfrm>
              <a:off x="0" y="0"/>
              <a:ext cx="3740150" cy="4219702"/>
            </a:xfrm>
            <a:custGeom>
              <a:avLst/>
              <a:gdLst/>
              <a:ahLst/>
              <a:cxnLst/>
              <a:rect l="l" t="t" r="r" b="b"/>
              <a:pathLst>
                <a:path w="3740150" h="4219702">
                  <a:moveTo>
                    <a:pt x="16891" y="0"/>
                  </a:moveTo>
                  <a:lnTo>
                    <a:pt x="3723259" y="0"/>
                  </a:lnTo>
                  <a:cubicBezTo>
                    <a:pt x="3732657" y="0"/>
                    <a:pt x="3740150" y="7620"/>
                    <a:pt x="3740150" y="16891"/>
                  </a:cubicBezTo>
                  <a:lnTo>
                    <a:pt x="3740150" y="4202811"/>
                  </a:lnTo>
                  <a:cubicBezTo>
                    <a:pt x="3740150" y="4212209"/>
                    <a:pt x="3732530" y="4219702"/>
                    <a:pt x="3723259" y="4219702"/>
                  </a:cubicBezTo>
                  <a:lnTo>
                    <a:pt x="16891" y="4219702"/>
                  </a:lnTo>
                  <a:cubicBezTo>
                    <a:pt x="7493" y="4219702"/>
                    <a:pt x="0" y="4212082"/>
                    <a:pt x="0" y="420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02811"/>
                  </a:lnTo>
                  <a:lnTo>
                    <a:pt x="16891" y="4202811"/>
                  </a:lnTo>
                  <a:lnTo>
                    <a:pt x="16891" y="4185920"/>
                  </a:lnTo>
                  <a:lnTo>
                    <a:pt x="3723259" y="4185920"/>
                  </a:lnTo>
                  <a:lnTo>
                    <a:pt x="3723259" y="4202811"/>
                  </a:lnTo>
                  <a:lnTo>
                    <a:pt x="3706368" y="4202811"/>
                  </a:lnTo>
                  <a:lnTo>
                    <a:pt x="3706368" y="16891"/>
                  </a:lnTo>
                  <a:lnTo>
                    <a:pt x="3723259" y="16891"/>
                  </a:lnTo>
                  <a:lnTo>
                    <a:pt x="372325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</p:sp>
      </p:grpSp>
      <p:grpSp>
        <p:nvGrpSpPr>
          <p:cNvPr id="129" name="Group 44"/>
          <p:cNvGrpSpPr/>
          <p:nvPr/>
        </p:nvGrpSpPr>
        <p:grpSpPr>
          <a:xfrm>
            <a:off x="6073775" y="3869055"/>
            <a:ext cx="1625600" cy="2915920"/>
            <a:chOff x="0" y="0"/>
            <a:chExt cx="3825789" cy="4219702"/>
          </a:xfrm>
          <a:solidFill>
            <a:schemeClr val="accent1">
              <a:lumMod val="75000"/>
            </a:schemeClr>
          </a:solidFill>
        </p:grpSpPr>
        <p:sp>
          <p:nvSpPr>
            <p:cNvPr id="130" name="Freeform 45"/>
            <p:cNvSpPr/>
            <p:nvPr/>
          </p:nvSpPr>
          <p:spPr>
            <a:xfrm>
              <a:off x="17110" y="16886"/>
              <a:ext cx="3808679" cy="4186019"/>
            </a:xfrm>
            <a:custGeom>
              <a:avLst/>
              <a:gdLst/>
              <a:ahLst/>
              <a:cxnLst/>
              <a:rect l="l" t="t" r="r" b="b"/>
              <a:pathLst>
                <a:path w="3706368" h="4185920">
                  <a:moveTo>
                    <a:pt x="0" y="0"/>
                  </a:moveTo>
                  <a:lnTo>
                    <a:pt x="3706368" y="0"/>
                  </a:lnTo>
                  <a:lnTo>
                    <a:pt x="3706368" y="4185920"/>
                  </a:lnTo>
                  <a:lnTo>
                    <a:pt x="0" y="4185920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txBody>
            <a:bodyPr/>
            <a:p>
              <a:endParaRPr lang="es-ES" altLang="en-US"/>
            </a:p>
          </p:txBody>
        </p:sp>
        <p:sp>
          <p:nvSpPr>
            <p:cNvPr id="131" name="Freeform 46"/>
            <p:cNvSpPr/>
            <p:nvPr/>
          </p:nvSpPr>
          <p:spPr>
            <a:xfrm>
              <a:off x="0" y="0"/>
              <a:ext cx="3740150" cy="4219702"/>
            </a:xfrm>
            <a:custGeom>
              <a:avLst/>
              <a:gdLst/>
              <a:ahLst/>
              <a:cxnLst/>
              <a:rect l="l" t="t" r="r" b="b"/>
              <a:pathLst>
                <a:path w="3740150" h="4219702">
                  <a:moveTo>
                    <a:pt x="16891" y="0"/>
                  </a:moveTo>
                  <a:lnTo>
                    <a:pt x="3723259" y="0"/>
                  </a:lnTo>
                  <a:cubicBezTo>
                    <a:pt x="3732657" y="0"/>
                    <a:pt x="3740150" y="7620"/>
                    <a:pt x="3740150" y="16891"/>
                  </a:cubicBezTo>
                  <a:lnTo>
                    <a:pt x="3740150" y="4202811"/>
                  </a:lnTo>
                  <a:cubicBezTo>
                    <a:pt x="3740150" y="4212209"/>
                    <a:pt x="3732530" y="4219702"/>
                    <a:pt x="3723259" y="4219702"/>
                  </a:cubicBezTo>
                  <a:lnTo>
                    <a:pt x="16891" y="4219702"/>
                  </a:lnTo>
                  <a:cubicBezTo>
                    <a:pt x="7493" y="4219702"/>
                    <a:pt x="0" y="4212082"/>
                    <a:pt x="0" y="4202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202811"/>
                  </a:lnTo>
                  <a:lnTo>
                    <a:pt x="16891" y="4202811"/>
                  </a:lnTo>
                  <a:lnTo>
                    <a:pt x="16891" y="4185920"/>
                  </a:lnTo>
                  <a:lnTo>
                    <a:pt x="3723259" y="4185920"/>
                  </a:lnTo>
                  <a:lnTo>
                    <a:pt x="3723259" y="4202811"/>
                  </a:lnTo>
                  <a:lnTo>
                    <a:pt x="3706368" y="4202811"/>
                  </a:lnTo>
                  <a:lnTo>
                    <a:pt x="3706368" y="16891"/>
                  </a:lnTo>
                  <a:lnTo>
                    <a:pt x="3723259" y="16891"/>
                  </a:lnTo>
                  <a:lnTo>
                    <a:pt x="3723259" y="33909"/>
                  </a:lnTo>
                  <a:lnTo>
                    <a:pt x="16891" y="33909"/>
                  </a:lnTo>
                  <a:close/>
                </a:path>
              </a:pathLst>
            </a:custGeom>
            <a:grpFill/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</p:sp>
      </p:grpSp>
      <p:sp>
        <p:nvSpPr>
          <p:cNvPr id="132" name="Freeform 55"/>
          <p:cNvSpPr/>
          <p:nvPr/>
        </p:nvSpPr>
        <p:spPr>
          <a:xfrm>
            <a:off x="7708900" y="4594860"/>
            <a:ext cx="1703070" cy="2190115"/>
          </a:xfrm>
          <a:custGeom>
            <a:avLst/>
            <a:gdLst/>
            <a:ahLst/>
            <a:cxnLst/>
            <a:rect l="l" t="t" r="r" b="b"/>
            <a:pathLst>
              <a:path w="3706368" h="3190240">
                <a:moveTo>
                  <a:pt x="0" y="0"/>
                </a:moveTo>
                <a:lnTo>
                  <a:pt x="3706368" y="0"/>
                </a:lnTo>
                <a:lnTo>
                  <a:pt x="3706368" y="3190240"/>
                </a:lnTo>
                <a:lnTo>
                  <a:pt x="0" y="319024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</p:sp>
      <p:sp>
        <p:nvSpPr>
          <p:cNvPr id="134" name="Freeform 55"/>
          <p:cNvSpPr/>
          <p:nvPr/>
        </p:nvSpPr>
        <p:spPr>
          <a:xfrm>
            <a:off x="9422130" y="5354955"/>
            <a:ext cx="1666240" cy="1430020"/>
          </a:xfrm>
          <a:custGeom>
            <a:avLst/>
            <a:gdLst/>
            <a:ahLst/>
            <a:cxnLst/>
            <a:rect l="l" t="t" r="r" b="b"/>
            <a:pathLst>
              <a:path w="3706368" h="3190240">
                <a:moveTo>
                  <a:pt x="0" y="0"/>
                </a:moveTo>
                <a:lnTo>
                  <a:pt x="3706368" y="0"/>
                </a:lnTo>
                <a:lnTo>
                  <a:pt x="3706368" y="3190240"/>
                </a:lnTo>
                <a:lnTo>
                  <a:pt x="0" y="319024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</p:sp>
      <p:sp>
        <p:nvSpPr>
          <p:cNvPr id="137" name="TextBox 49"/>
          <p:cNvSpPr txBox="1"/>
          <p:nvPr>
            <p:custDataLst>
              <p:tags r:id="rId2"/>
            </p:custDataLst>
          </p:nvPr>
        </p:nvSpPr>
        <p:spPr>
          <a:xfrm>
            <a:off x="1202055" y="1223645"/>
            <a:ext cx="1663700" cy="6502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280"/>
              </a:lnSpc>
            </a:pPr>
            <a:r>
              <a:rPr lang="es-ES" altLang="en-US" sz="19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1</a:t>
            </a:r>
            <a:r>
              <a:rPr lang="en-US" sz="19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. </a:t>
            </a:r>
            <a:r>
              <a:rPr lang="es-ES" altLang="en-US" sz="19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Requisitos</a:t>
            </a:r>
            <a:endParaRPr lang="es-ES" altLang="en-US" sz="19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138" name="TextBox 49"/>
          <p:cNvSpPr txBox="1"/>
          <p:nvPr>
            <p:custDataLst>
              <p:tags r:id="rId3"/>
            </p:custDataLst>
          </p:nvPr>
        </p:nvSpPr>
        <p:spPr>
          <a:xfrm>
            <a:off x="2865755" y="2232025"/>
            <a:ext cx="1609090" cy="6502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280"/>
              </a:lnSpc>
            </a:pPr>
            <a:r>
              <a:rPr lang="es-ES" altLang="en-US" sz="19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2</a:t>
            </a:r>
            <a:r>
              <a:rPr lang="en-US" sz="19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. </a:t>
            </a:r>
            <a:r>
              <a:rPr lang="es-ES" altLang="en-US" sz="19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Analisis</a:t>
            </a:r>
            <a:endParaRPr lang="es-ES" altLang="en-US" sz="19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139" name="TextBox 49"/>
          <p:cNvSpPr txBox="1"/>
          <p:nvPr>
            <p:custDataLst>
              <p:tags r:id="rId4"/>
            </p:custDataLst>
          </p:nvPr>
        </p:nvSpPr>
        <p:spPr>
          <a:xfrm>
            <a:off x="4476115" y="3050540"/>
            <a:ext cx="1569085" cy="6502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280"/>
              </a:lnSpc>
            </a:pPr>
            <a:r>
              <a:rPr lang="es-ES" altLang="en-US" sz="19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3</a:t>
            </a:r>
            <a:r>
              <a:rPr lang="en-US" sz="19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. </a:t>
            </a:r>
            <a:r>
              <a:rPr lang="es-ES" altLang="en-US" sz="19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Diseño</a:t>
            </a:r>
            <a:endParaRPr lang="es-ES" altLang="en-US" sz="19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140" name="TextBox 49"/>
          <p:cNvSpPr txBox="1"/>
          <p:nvPr>
            <p:custDataLst>
              <p:tags r:id="rId5"/>
            </p:custDataLst>
          </p:nvPr>
        </p:nvSpPr>
        <p:spPr>
          <a:xfrm>
            <a:off x="6181725" y="3797935"/>
            <a:ext cx="1389380" cy="6502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280"/>
              </a:lnSpc>
            </a:pPr>
            <a:r>
              <a:rPr lang="en-US" sz="14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4. Implementación</a:t>
            </a:r>
            <a:endParaRPr lang="en-US" sz="14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141" name="TextBox 49"/>
          <p:cNvSpPr txBox="1"/>
          <p:nvPr>
            <p:custDataLst>
              <p:tags r:id="rId6"/>
            </p:custDataLst>
          </p:nvPr>
        </p:nvSpPr>
        <p:spPr>
          <a:xfrm>
            <a:off x="7712075" y="4538980"/>
            <a:ext cx="1663700" cy="6502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280"/>
              </a:lnSpc>
            </a:pPr>
            <a:r>
              <a:rPr lang="es-ES" altLang="en-US" sz="19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5</a:t>
            </a:r>
            <a:r>
              <a:rPr lang="en-US" sz="19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. </a:t>
            </a:r>
            <a:r>
              <a:rPr lang="es-ES" altLang="en-US" sz="19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Pruebas</a:t>
            </a:r>
            <a:endParaRPr lang="es-ES" altLang="en-US" sz="19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142" name="TextBox 49"/>
          <p:cNvSpPr txBox="1"/>
          <p:nvPr>
            <p:custDataLst>
              <p:tags r:id="rId7"/>
            </p:custDataLst>
          </p:nvPr>
        </p:nvSpPr>
        <p:spPr>
          <a:xfrm>
            <a:off x="9415780" y="5209540"/>
            <a:ext cx="1663700" cy="65024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280"/>
              </a:lnSpc>
            </a:pPr>
            <a:r>
              <a:rPr lang="es-ES" altLang="en-US" sz="14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6</a:t>
            </a:r>
            <a:r>
              <a:rPr lang="en-US" sz="14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. </a:t>
            </a:r>
            <a:r>
              <a:rPr lang="es-ES" altLang="en-US" sz="14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Mantenimiento</a:t>
            </a:r>
            <a:endParaRPr lang="es-ES" altLang="en-US" sz="14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143" name="TextBox 20"/>
          <p:cNvSpPr txBox="1"/>
          <p:nvPr>
            <p:custDataLst>
              <p:tags r:id="rId8"/>
            </p:custDataLst>
          </p:nvPr>
        </p:nvSpPr>
        <p:spPr>
          <a:xfrm>
            <a:off x="1253490" y="2036445"/>
            <a:ext cx="1619250" cy="469265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40"/>
              </a:lnSpc>
            </a:pPr>
            <a:r>
              <a:rPr lang="es-ES" altLang="en-US" sz="1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Inicio seguro cifrado con </a:t>
            </a:r>
            <a:r>
              <a:rPr lang="en-US" altLang="es-ES" sz="1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bcryptjs</a:t>
            </a:r>
            <a:r>
              <a:rPr lang="en-US" sz="1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.</a:t>
            </a:r>
            <a:endParaRPr 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endParaRPr 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r>
              <a:rPr lang="es-ES" altLang="en-US" sz="1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Roles diferenciados (Lector)</a:t>
            </a: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r>
              <a:rPr lang="es-ES" altLang="en-US" sz="1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(Redactor) (Editor)</a:t>
            </a: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r>
              <a:rPr lang="es-ES" altLang="en-US" sz="1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(Administrador)</a:t>
            </a: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r>
              <a:rPr lang="es-ES" altLang="en-US" sz="1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Carga de articulos con Imagenes y Categorías</a:t>
            </a: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r>
              <a:rPr lang="es-ES" altLang="en-US" sz="1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Emision de notificaciones push</a:t>
            </a: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r>
              <a:rPr lang="es-ES" altLang="en-US" sz="1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Registro de telemetría y Panel de metricas</a:t>
            </a: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44" name="TextBox 20"/>
          <p:cNvSpPr txBox="1"/>
          <p:nvPr>
            <p:custDataLst>
              <p:tags r:id="rId9"/>
            </p:custDataLst>
          </p:nvPr>
        </p:nvSpPr>
        <p:spPr>
          <a:xfrm>
            <a:off x="2990215" y="2923540"/>
            <a:ext cx="1492885" cy="361696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40"/>
              </a:lnSpc>
            </a:pPr>
            <a:r>
              <a:rPr lang="es-ES" altLang="en-US" sz="1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Casos de uso</a:t>
            </a: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r>
              <a:rPr lang="es-ES" altLang="en-US" sz="1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Flujos DFD</a:t>
            </a: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r>
              <a:rPr lang="es-ES" altLang="en-US" sz="1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Dicionario de datos para entidades</a:t>
            </a: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45" name="TextBox 20"/>
          <p:cNvSpPr txBox="1"/>
          <p:nvPr>
            <p:custDataLst>
              <p:tags r:id="rId10"/>
            </p:custDataLst>
          </p:nvPr>
        </p:nvSpPr>
        <p:spPr>
          <a:xfrm>
            <a:off x="4531995" y="3700780"/>
            <a:ext cx="1492885" cy="334073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40"/>
              </a:lnSpc>
            </a:pPr>
            <a:r>
              <a:rPr lang="es-ES" altLang="en-US" sz="1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Modelo entidad-relacion y esquema de base de datos relacional</a:t>
            </a: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r>
              <a:rPr lang="es-ES" altLang="en-US" sz="1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Arquitectura Cliente servidor</a:t>
            </a: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r>
              <a:rPr lang="es-ES" altLang="en-US" sz="1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Protocolo de control de acceso basado en roles</a:t>
            </a: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46" name="TextBox 20"/>
          <p:cNvSpPr txBox="1"/>
          <p:nvPr>
            <p:custDataLst>
              <p:tags r:id="rId11"/>
            </p:custDataLst>
          </p:nvPr>
        </p:nvSpPr>
        <p:spPr>
          <a:xfrm>
            <a:off x="6171565" y="4411980"/>
            <a:ext cx="1492885" cy="227393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40"/>
              </a:lnSpc>
            </a:pPr>
            <a:r>
              <a:rPr lang="es-ES" altLang="en-US" sz="1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Backend (node.js)</a:t>
            </a: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r>
              <a:rPr lang="es-ES" altLang="en-US" sz="1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Frontend (HTML5)</a:t>
            </a: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r>
              <a:rPr lang="es-ES" altLang="en-US" sz="1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Telemetria en cliente</a:t>
            </a:r>
            <a:endParaRPr lang="es-ES" altLang="en-US" sz="1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47" name="TextBox 20"/>
          <p:cNvSpPr txBox="1"/>
          <p:nvPr>
            <p:custDataLst>
              <p:tags r:id="rId12"/>
            </p:custDataLst>
          </p:nvPr>
        </p:nvSpPr>
        <p:spPr>
          <a:xfrm>
            <a:off x="7811135" y="5059680"/>
            <a:ext cx="1492885" cy="16256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40"/>
              </a:lnSpc>
            </a:pPr>
            <a:r>
              <a:rPr lang="es-ES" altLang="en-US" sz="12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Pruebas Unitarias</a:t>
            </a:r>
            <a:endParaRPr lang="es-ES" altLang="en-US" sz="12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r>
              <a:rPr lang="es-ES" altLang="en-US" sz="12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Pruebas de Integracion</a:t>
            </a:r>
            <a:endParaRPr lang="es-ES" altLang="en-US" sz="12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r>
              <a:rPr lang="es-ES" altLang="en-US" sz="12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Pruebas de rendimiento</a:t>
            </a:r>
            <a:endParaRPr lang="es-ES" altLang="en-US" sz="12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r>
              <a:rPr lang="es-ES" altLang="en-US" sz="12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Pruebas de interfaz</a:t>
            </a:r>
            <a:endParaRPr lang="es-ES" altLang="en-US" sz="12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48" name="TextBox 20"/>
          <p:cNvSpPr txBox="1"/>
          <p:nvPr>
            <p:custDataLst>
              <p:tags r:id="rId13"/>
            </p:custDataLst>
          </p:nvPr>
        </p:nvSpPr>
        <p:spPr>
          <a:xfrm>
            <a:off x="9579610" y="5859780"/>
            <a:ext cx="1492885" cy="92519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2040"/>
              </a:lnSpc>
            </a:pPr>
            <a:r>
              <a:rPr lang="es-ES" altLang="en-US" sz="12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Plan correctivo, adaptativo, perfectivo</a:t>
            </a:r>
            <a:endParaRPr lang="es-ES" altLang="en-US" sz="12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2040"/>
              </a:lnSpc>
            </a:pPr>
            <a:endParaRPr lang="es-ES" altLang="en-US" sz="12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TECNOLOGÍAS Y HERRAMIENTAS DE DESARROLLO</a:t>
            </a:r>
            <a:endParaRPr lang="es-VE" sz="2400" dirty="0"/>
          </a:p>
        </p:txBody>
      </p:sp>
      <p:sp>
        <p:nvSpPr>
          <p:cNvPr id="4" name="Rectángulo 3"/>
          <p:cNvSpPr/>
          <p:nvPr/>
        </p:nvSpPr>
        <p:spPr>
          <a:xfrm>
            <a:off x="842645" y="1645285"/>
            <a:ext cx="10739120" cy="48653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Lenguajes </a:t>
            </a:r>
            <a:r>
              <a:rPr lang="es-VE" sz="28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</a:t>
            </a: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programación</a:t>
            </a:r>
            <a:r>
              <a:rPr lang="es-ES" alt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s-ES" altLang="es-VE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JavaScript</a:t>
            </a:r>
            <a:endParaRPr lang="es-VE" sz="2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Frameworks</a:t>
            </a:r>
            <a:r>
              <a:rPr lang="es-ES" altLang="es-VE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es-ES" altLang="es-VE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Express.js, Node.js</a:t>
            </a:r>
            <a:endParaRPr lang="es-VE" sz="2800" dirty="0" err="1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Frontend</a:t>
            </a: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/</a:t>
            </a:r>
            <a:r>
              <a:rPr lang="es-VE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Backend</a:t>
            </a:r>
            <a:r>
              <a:rPr lang="es-ES" altLang="es-VE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s-ES" altLang="es-VE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Frontend JS, HTML5, CSS3. Backend: Node.js, Express.js</a:t>
            </a:r>
            <a:endParaRPr lang="es-VE" sz="2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Base de Datos</a:t>
            </a:r>
            <a:r>
              <a:rPr lang="es-ES" alt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s-ES" altLang="es-VE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SQLite</a:t>
            </a:r>
            <a:endParaRPr lang="es-VE" sz="2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Herramiestas</a:t>
            </a: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 apoyo</a:t>
            </a:r>
            <a:r>
              <a:rPr lang="es-ES" alt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es-ES" altLang="es-VE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VS Code , Draw.io</a:t>
            </a:r>
            <a:endParaRPr lang="es-VE" sz="2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Herramientas compartidas</a:t>
            </a:r>
            <a:r>
              <a:rPr lang="es-ES" alt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s-ES" altLang="es-VE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GitHub</a:t>
            </a:r>
            <a:endParaRPr lang="es-ES" altLang="es-VE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DIAGRAMA DE FLUJO DE DATOS - DFD</a:t>
            </a:r>
            <a:endParaRPr lang="es-VE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3870" y="1490345"/>
            <a:ext cx="6143625" cy="3876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75895"/>
            <a:ext cx="10706100" cy="65055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6620" y="514350"/>
            <a:ext cx="7858125" cy="5829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DIAGRAMA ENTIDAD – RELACIÓN </a:t>
            </a:r>
            <a:endParaRPr lang="es-VE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8120" y="1095375"/>
            <a:ext cx="9255125" cy="57448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DICCIONARIO DE DATOS - DFD </a:t>
            </a:r>
            <a:endParaRPr lang="es-VE" sz="2400" dirty="0"/>
          </a:p>
        </p:txBody>
      </p:sp>
      <p:graphicFrame>
        <p:nvGraphicFramePr>
          <p:cNvPr id="5" name="Tabla 4"/>
          <p:cNvGraphicFramePr/>
          <p:nvPr/>
        </p:nvGraphicFramePr>
        <p:xfrm>
          <a:off x="1828800" y="1508760"/>
          <a:ext cx="8533765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campo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tipo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restricción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descripción</a:t>
                      </a:r>
                      <a:endParaRPr lang="es-E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id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INTERGER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PK-AI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identificador unico del usuario</a:t>
                      </a:r>
                      <a:endParaRPr lang="es-E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nombre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TEXT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NOT NULL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nombre del usuario</a:t>
                      </a:r>
                      <a:endParaRPr lang="es-E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correo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TEXT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NOT NULL, UNIQUE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correo electronico para incio de sesion</a:t>
                      </a:r>
                      <a:endParaRPr lang="es-E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clave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TEXT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NOT NULL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s-ES" sz="1800">
                          <a:sym typeface="+mn-ea"/>
                        </a:rPr>
                        <a:t>Bcrypt</a:t>
                      </a:r>
                      <a:r>
                        <a:rPr lang="es-ES" altLang="en-US"/>
                        <a:t> de la contraseña</a:t>
                      </a:r>
                      <a:endParaRPr lang="es-E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rol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TEXT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NOT NULL, DEFAULT “LECTOR”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rol en el sistema:</a:t>
                      </a:r>
                      <a:endParaRPr lang="es-ES" altLang="en-US"/>
                    </a:p>
                    <a:p>
                      <a:pPr algn="ctr">
                        <a:buNone/>
                      </a:pPr>
                      <a:r>
                        <a:rPr lang="es-ES" altLang="en-US"/>
                        <a:t>LECTOR, REDACTOR, EDITOR, ADMINISTRADOR</a:t>
                      </a:r>
                      <a:endParaRPr lang="es-E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creado_en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DATETIME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DEFAULT “CURRENT_TIMESTAMP”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fecha y hora de registro en la plataforma</a:t>
                      </a:r>
                      <a:endParaRPr lang="es-ES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Cuadro de texto 6"/>
          <p:cNvSpPr txBox="1"/>
          <p:nvPr/>
        </p:nvSpPr>
        <p:spPr>
          <a:xfrm>
            <a:off x="4064000" y="11404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s-ES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USUARIOS</a:t>
            </a:r>
            <a:endParaRPr lang="es-ES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Cuadro de texto 6"/>
          <p:cNvSpPr txBox="1"/>
          <p:nvPr/>
        </p:nvSpPr>
        <p:spPr>
          <a:xfrm>
            <a:off x="4064000" y="1460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s-ES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ARTICULOS</a:t>
            </a:r>
            <a:endParaRPr lang="es-ES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aphicFrame>
        <p:nvGraphicFramePr>
          <p:cNvPr id="5" name="Tabla 4"/>
          <p:cNvGraphicFramePr/>
          <p:nvPr/>
        </p:nvGraphicFramePr>
        <p:xfrm>
          <a:off x="1828800" y="514350"/>
          <a:ext cx="8533765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campo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tipo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restricción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descripción</a:t>
                      </a:r>
                      <a:endParaRPr lang="es-E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id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INTERGER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PK-AI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identificador unico del evento de telemetria</a:t>
                      </a:r>
                      <a:endParaRPr lang="es-E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autor_id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INTERGER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FK (usuarios.id), NOT NULL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identificador del redactor que creo la noticia</a:t>
                      </a:r>
                      <a:endParaRPr lang="es-E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titulo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TEXT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NOT NULL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s-ES"/>
                        <a:t>Titular principal de la noticia</a:t>
                      </a:r>
                      <a:endParaRPr lang="en-US" altLang="es-E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resumen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TEXT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s-ES"/>
                        <a:t>Copete o introducci</a:t>
                      </a:r>
                      <a:r>
                        <a:rPr lang="en-US" altLang="en-US"/>
                        <a:t>ó</a:t>
                      </a:r>
                      <a:r>
                        <a:rPr lang="en-US" altLang="es-ES"/>
                        <a:t>n resumida del art</a:t>
                      </a:r>
                      <a:r>
                        <a:rPr lang="en-US" altLang="en-US"/>
                        <a:t>í</a:t>
                      </a:r>
                      <a:r>
                        <a:rPr lang="en-US" altLang="es-ES"/>
                        <a:t>culo</a:t>
                      </a:r>
                      <a:endParaRPr lang="en-US" altLang="es-E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contenido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TEXT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NOT NULL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s-ES"/>
                        <a:t>Cuerpo completo del art</a:t>
                      </a:r>
                      <a:r>
                        <a:rPr lang="en-US" altLang="en-US"/>
                        <a:t>í</a:t>
                      </a:r>
                      <a:r>
                        <a:rPr lang="en-US" altLang="es-ES"/>
                        <a:t>culo period</a:t>
                      </a:r>
                      <a:r>
                        <a:rPr lang="en-US" altLang="en-US"/>
                        <a:t>í</a:t>
                      </a:r>
                      <a:r>
                        <a:rPr lang="en-US" altLang="es-ES"/>
                        <a:t>stico</a:t>
                      </a:r>
                      <a:endParaRPr lang="en-US" altLang="es-E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categoria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TEXT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NOT NULL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s-ES"/>
                        <a:t>Categor</a:t>
                      </a:r>
                      <a:r>
                        <a:rPr lang="en-US" altLang="en-US"/>
                        <a:t>í</a:t>
                      </a:r>
                      <a:r>
                        <a:rPr lang="en-US" altLang="es-ES"/>
                        <a:t>a tem</a:t>
                      </a:r>
                      <a:r>
                        <a:rPr lang="en-US" altLang="en-US"/>
                        <a:t>á</a:t>
                      </a:r>
                      <a:r>
                        <a:rPr lang="en-US" altLang="es-ES"/>
                        <a:t>tica (POL</a:t>
                      </a:r>
                      <a:r>
                        <a:rPr lang="en-US" altLang="en-US"/>
                        <a:t>Í</a:t>
                      </a:r>
                      <a:r>
                        <a:rPr lang="en-US" altLang="es-ES"/>
                        <a:t>TICA, DEPORTES, etc.)</a:t>
                      </a:r>
                      <a:endParaRPr lang="en-US" altLang="es-E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Cuadro de texto 6"/>
          <p:cNvSpPr txBox="1"/>
          <p:nvPr/>
        </p:nvSpPr>
        <p:spPr>
          <a:xfrm>
            <a:off x="4064000" y="1460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s-ES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ARTICULOS</a:t>
            </a:r>
            <a:endParaRPr lang="es-ES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aphicFrame>
        <p:nvGraphicFramePr>
          <p:cNvPr id="5" name="Tabla 4"/>
          <p:cNvGraphicFramePr/>
          <p:nvPr/>
        </p:nvGraphicFramePr>
        <p:xfrm>
          <a:off x="1828800" y="514350"/>
          <a:ext cx="8533765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campo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tipo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restricción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descripción</a:t>
                      </a:r>
                      <a:endParaRPr lang="es-E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imagen_url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INTERGER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s-ES"/>
                        <a:t>Enlace a la imagen de portada</a:t>
                      </a:r>
                      <a:endParaRPr lang="en-US" altLang="es-E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estado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INTERGER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NOT NULL, DEFAULT “BORRADOR”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s-ES"/>
                        <a:t>Estado editorial: BORRADOR, PUBLICADO, RECHAZADO, ELIMINADO</a:t>
                      </a:r>
                      <a:endParaRPr lang="en-US" altLang="es-E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creado_en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TEXT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DEFAULT “CURRENT_TIMESTAMP”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s-ES"/>
                        <a:t>Fecha de creaci</a:t>
                      </a:r>
                      <a:r>
                        <a:rPr lang="en-US" altLang="en-US"/>
                        <a:t>ó</a:t>
                      </a:r>
                      <a:r>
                        <a:rPr lang="en-US" altLang="es-ES"/>
                        <a:t>n del borrador</a:t>
                      </a:r>
                      <a:endParaRPr lang="en-US" altLang="es-E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Cuadro de texto 6"/>
          <p:cNvSpPr txBox="1"/>
          <p:nvPr/>
        </p:nvSpPr>
        <p:spPr>
          <a:xfrm>
            <a:off x="4064000" y="1460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s-ES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Métricas</a:t>
            </a:r>
            <a:endParaRPr lang="es-ES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graphicFrame>
        <p:nvGraphicFramePr>
          <p:cNvPr id="5" name="Tabla 4"/>
          <p:cNvGraphicFramePr/>
          <p:nvPr/>
        </p:nvGraphicFramePr>
        <p:xfrm>
          <a:off x="1828800" y="514350"/>
          <a:ext cx="8533765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campo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tipo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restricción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descripción</a:t>
                      </a:r>
                      <a:endParaRPr lang="es-E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id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INTERGER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PK,AI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identificador unico del evento de telemetria</a:t>
                      </a:r>
                      <a:endParaRPr lang="es-E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articulo_id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INTERGER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FK (Articulos.id), NOT NULL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s-ES"/>
                        <a:t>Noticia a la que corresponde la interacci</a:t>
                      </a:r>
                      <a:r>
                        <a:rPr lang="en-US" altLang="en-US"/>
                        <a:t>ó</a:t>
                      </a:r>
                      <a:r>
                        <a:rPr lang="en-US" altLang="es-ES"/>
                        <a:t>n</a:t>
                      </a:r>
                      <a:endParaRPr lang="en-US" altLang="es-E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tiempo_permanencia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 sz="1800">
                          <a:sym typeface="+mn-ea"/>
                        </a:rPr>
                        <a:t>INTERGER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NOT NULL, DEFAULT 0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s-ES"/>
                        <a:t>Tiempo en segundos de permanencia en la lectura</a:t>
                      </a:r>
                      <a:endParaRPr lang="en-US" altLang="es-E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direccion_ip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TEXT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s-ES"/>
                        <a:t>Direcci</a:t>
                      </a:r>
                      <a:r>
                        <a:rPr lang="en-US" altLang="en-US"/>
                        <a:t>ó</a:t>
                      </a:r>
                      <a:r>
                        <a:rPr lang="en-US" altLang="es-ES"/>
                        <a:t>n IP del cliente que realiza la lectura</a:t>
                      </a:r>
                      <a:endParaRPr lang="en-US" altLang="es-E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registrado_en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DATETIME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 sz="1800">
                          <a:sym typeface="+mn-ea"/>
                        </a:rPr>
                        <a:t>DEFAULT “CURRENT_TIMESTAMP”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s-ES"/>
                        <a:t>Marca temporal exacta de la visita</a:t>
                      </a:r>
                      <a:endParaRPr lang="en-US" altLang="es-E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INTERFACES DE ENTRADA / SALIDA</a:t>
            </a:r>
            <a:endParaRPr lang="es-VE" sz="24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58545"/>
            <a:ext cx="5943600" cy="5863590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020" y="1395730"/>
            <a:ext cx="5724525" cy="45243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134100" cy="277368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75" y="0"/>
            <a:ext cx="6143625" cy="612457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2456180"/>
            <a:ext cx="5937885" cy="43402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PRUEBAS  DE SISTEMAS DE INFORMACIÓN</a:t>
            </a:r>
            <a:endParaRPr lang="es-VE" sz="2400" dirty="0"/>
          </a:p>
        </p:txBody>
      </p:sp>
      <p:sp>
        <p:nvSpPr>
          <p:cNvPr id="4" name="Rectángulo 3"/>
          <p:cNvSpPr/>
          <p:nvPr/>
        </p:nvSpPr>
        <p:spPr>
          <a:xfrm>
            <a:off x="842962" y="1645264"/>
            <a:ext cx="8172451" cy="1474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Pruebas Funcionales</a:t>
            </a:r>
            <a:endParaRPr lang="es-VE" sz="2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Prue</a:t>
            </a:r>
            <a:r>
              <a:rPr lang="es-ES" altLang="es-VE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s-VE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s-ES" altLang="es-VE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 Funcionales</a:t>
            </a:r>
            <a:endParaRPr lang="es-VE" sz="2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Pruebas Unitarias con </a:t>
            </a:r>
            <a:r>
              <a:rPr lang="es-VE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Github</a:t>
            </a: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VE" sz="2800" dirty="0" err="1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Copilot</a:t>
            </a:r>
            <a:endParaRPr lang="es-VE" sz="2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a 4"/>
          <p:cNvGraphicFramePr/>
          <p:nvPr>
            <p:custDataLst>
              <p:tags r:id="rId1"/>
            </p:custDataLst>
          </p:nvPr>
        </p:nvGraphicFramePr>
        <p:xfrm>
          <a:off x="1845310" y="3048000"/>
          <a:ext cx="851535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3070"/>
                <a:gridCol w="1703070"/>
                <a:gridCol w="1703070"/>
                <a:gridCol w="1703070"/>
                <a:gridCol w="1703070"/>
              </a:tblGrid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ID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Funcion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Caso de Prueba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Resultado Esperado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Estado</a:t>
                      </a:r>
                      <a:endParaRPr lang="es-ES" altLang="en-US"/>
                    </a:p>
                  </a:txBody>
                  <a:tcPr/>
                </a:tc>
              </a:tr>
              <a:tr h="17373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PF-01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Autenticacion Login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Ingresio con credenciales validas registradas en SQLite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s-ES"/>
                        <a:t>Generaci</a:t>
                      </a:r>
                      <a:r>
                        <a:rPr lang="en-US" altLang="en-US"/>
                        <a:t>ó</a:t>
                      </a:r>
                      <a:r>
                        <a:rPr lang="en-US" altLang="es-ES"/>
                        <a:t>n de token JWT, persistencia de sesi</a:t>
                      </a:r>
                      <a:r>
                        <a:rPr lang="en-US" altLang="en-US"/>
                        <a:t>ó</a:t>
                      </a:r>
                      <a:r>
                        <a:rPr lang="en-US" altLang="es-ES"/>
                        <a:t>n y redirecci</a:t>
                      </a:r>
                      <a:r>
                        <a:rPr lang="en-US" altLang="en-US"/>
                        <a:t>ó</a:t>
                      </a:r>
                      <a:r>
                        <a:rPr lang="en-US" altLang="es-ES"/>
                        <a:t>n seg</a:t>
                      </a:r>
                      <a:r>
                        <a:rPr lang="en-US" altLang="en-US"/>
                        <a:t>ú</a:t>
                      </a:r>
                      <a:r>
                        <a:rPr lang="en-US" altLang="es-ES"/>
                        <a:t>n rol.</a:t>
                      </a:r>
                      <a:endParaRPr lang="en-US" altLang="es-E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Aprobado</a:t>
                      </a:r>
                      <a:endParaRPr lang="es-ES" altLang="en-US"/>
                    </a:p>
                  </a:txBody>
                  <a:tcPr/>
                </a:tc>
              </a:tr>
              <a:tr h="14630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PF-02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Control de Acceso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Intento de un lector de acceder al panel de moderacion o redaccion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Bloqueo de acceso por middleware y redireccion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Aprobado</a:t>
                      </a:r>
                      <a:endParaRPr lang="es-E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Tabla 4"/>
          <p:cNvGraphicFramePr/>
          <p:nvPr/>
        </p:nvGraphicFramePr>
        <p:xfrm>
          <a:off x="1845310" y="92710"/>
          <a:ext cx="8531225" cy="2758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245"/>
                <a:gridCol w="1706245"/>
                <a:gridCol w="1706245"/>
                <a:gridCol w="1706245"/>
                <a:gridCol w="1706245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ID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Funcion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Caso de Prueba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Resultado Esperado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Estado</a:t>
                      </a:r>
                      <a:endParaRPr lang="es-E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PNF-01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Rendimiento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Tiempo de respuesta en la carga inicial de noticias y la portada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Respuesta del endpoint local en menos de 200 ms.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Aprobado</a:t>
                      </a:r>
                      <a:endParaRPr lang="es-E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PNF-02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Seguridad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Almacenamiento y proteccion  de contraseñas de usuarios</a:t>
                      </a:r>
                      <a:endParaRPr lang="es-ES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s-ES"/>
                        <a:t>Cifrado unidireccional con Bcrypt; sin persistencia en texto plano</a:t>
                      </a:r>
                      <a:endParaRPr lang="en-US" altLang="es-E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s-ES" altLang="en-US"/>
                        <a:t>Aprobado</a:t>
                      </a:r>
                      <a:endParaRPr lang="es-E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PLAN DE MANTENIMIENTO</a:t>
            </a:r>
            <a:endParaRPr lang="es-VE" sz="2400" dirty="0"/>
          </a:p>
        </p:txBody>
      </p:sp>
      <p:sp>
        <p:nvSpPr>
          <p:cNvPr id="4" name="Rectángulo 3"/>
          <p:cNvSpPr/>
          <p:nvPr/>
        </p:nvSpPr>
        <p:spPr>
          <a:xfrm>
            <a:off x="842645" y="1645285"/>
            <a:ext cx="11196955" cy="4701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Correctivo</a:t>
            </a:r>
            <a:r>
              <a:rPr lang="es-ES" alt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en-US" altLang="es-E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Resoluci</a:t>
            </a:r>
            <a:r>
              <a:rPr lang="en-US" alt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ó</a:t>
            </a:r>
            <a:r>
              <a:rPr lang="en-US" altLang="es-E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de errores de sesi</a:t>
            </a:r>
            <a:r>
              <a:rPr lang="en-US" alt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ó</a:t>
            </a:r>
            <a:r>
              <a:rPr lang="en-US" altLang="es-E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donde un token expirado o corrupto impida realizar peticiones protegidas</a:t>
            </a:r>
            <a:endParaRPr lang="en-US" altLang="es-ES" sz="2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Adaptativo</a:t>
            </a:r>
            <a:r>
              <a:rPr lang="es-ES" alt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A</a:t>
            </a:r>
            <a:r>
              <a:rPr lang="en-US" altLang="es-E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daptaci</a:t>
            </a:r>
            <a:r>
              <a:rPr lang="en-US" alt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ó</a:t>
            </a:r>
            <a:r>
              <a:rPr lang="en-US" altLang="es-E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del dise</a:t>
            </a:r>
            <a:r>
              <a:rPr lang="en-US" alt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ñ</a:t>
            </a:r>
            <a:r>
              <a:rPr lang="en-US" altLang="es-E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responsivo para garantizar la correcta visualizaci</a:t>
            </a:r>
            <a:r>
              <a:rPr lang="en-US" alt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ó</a:t>
            </a:r>
            <a:r>
              <a:rPr lang="en-US" altLang="es-E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en nuevas resoluciones m</a:t>
            </a:r>
            <a:r>
              <a:rPr lang="en-US" alt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ó</a:t>
            </a:r>
            <a:r>
              <a:rPr lang="en-US" altLang="es-E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viles o navegadores web modernos.</a:t>
            </a:r>
            <a:endParaRPr lang="en-US" altLang="es-ES" sz="2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Perfectivo</a:t>
            </a:r>
            <a:r>
              <a:rPr lang="es-ES" alt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en-US" altLang="es-E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Refactorizaci</a:t>
            </a:r>
            <a:r>
              <a:rPr lang="en-US" alt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ó</a:t>
            </a:r>
            <a:r>
              <a:rPr lang="en-US" altLang="es-E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bajo el principio DRY para reutilizar componentes compartidos (funciones modulares de paginaci</a:t>
            </a:r>
            <a:r>
              <a:rPr lang="en-US" alt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ó</a:t>
            </a:r>
            <a:r>
              <a:rPr lang="en-US" altLang="es-E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o formateo de fechas).</a:t>
            </a:r>
            <a:endParaRPr lang="en-US" altLang="es-ES" sz="2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Preventivo</a:t>
            </a:r>
            <a:r>
              <a:rPr lang="es-ES" altLang="es-VE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en-US" altLang="es-E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Generaci</a:t>
            </a:r>
            <a:r>
              <a:rPr lang="en-US" alt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ó</a:t>
            </a:r>
            <a:r>
              <a:rPr lang="en-US" altLang="es-E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 y respaldo peri</a:t>
            </a:r>
            <a:r>
              <a:rPr lang="en-US" altLang="en-U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ó</a:t>
            </a:r>
            <a:r>
              <a:rPr lang="en-US" altLang="es-ES" sz="28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dico (backup) de copias de seguridad del archivo local de SQLite.</a:t>
            </a:r>
            <a:endParaRPr lang="en-US" altLang="es-ES" sz="2800" dirty="0" smtClean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12192000" cy="50343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PROYECTO FINAL</a:t>
            </a:r>
            <a:endParaRPr lang="es-VE" sz="2400" dirty="0"/>
          </a:p>
        </p:txBody>
      </p:sp>
      <p:sp>
        <p:nvSpPr>
          <p:cNvPr id="3" name="Rectángulo 2"/>
          <p:cNvSpPr/>
          <p:nvPr/>
        </p:nvSpPr>
        <p:spPr>
          <a:xfrm>
            <a:off x="0" y="503434"/>
            <a:ext cx="12192000" cy="55480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400" dirty="0" smtClean="0"/>
              <a:t>CONCLUSIONES</a:t>
            </a:r>
            <a:endParaRPr lang="es-VE" sz="2400" dirty="0"/>
          </a:p>
        </p:txBody>
      </p:sp>
      <p:sp>
        <p:nvSpPr>
          <p:cNvPr id="4" name="Cuadro de texto 3"/>
          <p:cNvSpPr txBox="1"/>
          <p:nvPr/>
        </p:nvSpPr>
        <p:spPr>
          <a:xfrm>
            <a:off x="123190" y="1136015"/>
            <a:ext cx="11944350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es-ES"/>
              <a:t>El desarrollo del portal informativo RubierReport consolida una soluci</a:t>
            </a:r>
            <a:r>
              <a:rPr lang="en-US" altLang="en-US"/>
              <a:t>ó</a:t>
            </a:r>
            <a:r>
              <a:rPr lang="en-US" altLang="es-ES"/>
              <a:t>n web integral orientada a la gesti</a:t>
            </a:r>
            <a:r>
              <a:rPr lang="en-US" altLang="en-US"/>
              <a:t>ó</a:t>
            </a:r>
            <a:r>
              <a:rPr lang="en-US" altLang="es-ES"/>
              <a:t>n y difusi</a:t>
            </a:r>
            <a:r>
              <a:rPr lang="en-US" altLang="en-US"/>
              <a:t>ó</a:t>
            </a:r>
            <a:r>
              <a:rPr lang="en-US" altLang="es-ES"/>
              <a:t>n de contenidos period</a:t>
            </a:r>
            <a:r>
              <a:rPr lang="en-US" altLang="en-US"/>
              <a:t>í</a:t>
            </a:r>
            <a:r>
              <a:rPr lang="en-US" altLang="es-ES"/>
              <a:t>sticos bajo est</a:t>
            </a:r>
            <a:r>
              <a:rPr lang="en-US" altLang="en-US"/>
              <a:t>á</a:t>
            </a:r>
            <a:r>
              <a:rPr lang="en-US" altLang="es-ES"/>
              <a:t>ndares modernos de arquitectura de software. Mediante la integraci</a:t>
            </a:r>
            <a:r>
              <a:rPr lang="en-US" altLang="en-US"/>
              <a:t>ó</a:t>
            </a:r>
            <a:r>
              <a:rPr lang="en-US" altLang="es-ES"/>
              <a:t>n de un backend robusto en Node.js con Express y una persistencia relacional </a:t>
            </a:r>
            <a:r>
              <a:rPr lang="en-US" altLang="en-US"/>
              <a:t>á</a:t>
            </a:r>
            <a:r>
              <a:rPr lang="en-US" altLang="es-ES"/>
              <a:t>gil basada en SQLite, se logr</a:t>
            </a:r>
            <a:r>
              <a:rPr lang="en-US" altLang="en-US"/>
              <a:t>ó</a:t>
            </a:r>
            <a:r>
              <a:rPr lang="en-US" altLang="es-ES"/>
              <a:t> estructurar un flujo editorial eficiente que cubre de forma ordenada desde la redacci</a:t>
            </a:r>
            <a:r>
              <a:rPr lang="en-US" altLang="en-US"/>
              <a:t>ó</a:t>
            </a:r>
            <a:r>
              <a:rPr lang="en-US" altLang="es-ES"/>
              <a:t>n inicial y la moderaci</a:t>
            </a:r>
            <a:r>
              <a:rPr lang="en-US" altLang="en-US"/>
              <a:t>ó</a:t>
            </a:r>
            <a:r>
              <a:rPr lang="en-US" altLang="es-ES"/>
              <a:t>n de publicaciones hasta la visualizaci</a:t>
            </a:r>
            <a:r>
              <a:rPr lang="en-US" altLang="en-US"/>
              <a:t>ó</a:t>
            </a:r>
            <a:r>
              <a:rPr lang="en-US" altLang="es-ES"/>
              <a:t>n final por parte de la audiencia.</a:t>
            </a:r>
            <a:endParaRPr lang="en-US" altLang="es-ES"/>
          </a:p>
          <a:p>
            <a:pPr algn="just"/>
            <a:endParaRPr lang="en-US" altLang="es-ES"/>
          </a:p>
          <a:p>
            <a:pPr algn="just"/>
            <a:r>
              <a:rPr lang="en-US" altLang="es-ES"/>
              <a:t>En definitiva, el proyecto no solo cumple satisfactoriamente con los requerimientos funcionales y t</a:t>
            </a:r>
            <a:r>
              <a:rPr lang="en-US" altLang="en-US"/>
              <a:t>é</a:t>
            </a:r>
            <a:r>
              <a:rPr lang="en-US" altLang="es-ES"/>
              <a:t>cnicos planteados, sino que sienta bases escalables y mantenibles para futuras ampliaciones, constituyendo una herramienta period</a:t>
            </a:r>
            <a:r>
              <a:rPr lang="en-US" altLang="en-US"/>
              <a:t>í</a:t>
            </a:r>
            <a:r>
              <a:rPr lang="en-US" altLang="es-ES"/>
              <a:t>stica digital s</a:t>
            </a:r>
            <a:r>
              <a:rPr lang="en-US" altLang="en-US"/>
              <a:t>ó</a:t>
            </a:r>
            <a:r>
              <a:rPr lang="en-US" altLang="es-ES"/>
              <a:t>lida, segura y visualmente profesional.</a:t>
            </a:r>
            <a:endParaRPr lang="en-US" altLang="es-E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Cuadro de texto 6"/>
          <p:cNvSpPr txBox="1"/>
          <p:nvPr/>
        </p:nvSpPr>
        <p:spPr>
          <a:xfrm>
            <a:off x="4064000" y="1460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es-ES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MINUTAS</a:t>
            </a:r>
            <a:endParaRPr lang="es-ES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" name="Imagen 1" descr="reunio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4350"/>
            <a:ext cx="3944620" cy="4622165"/>
          </a:xfrm>
          <a:prstGeom prst="rect">
            <a:avLst/>
          </a:prstGeom>
        </p:spPr>
      </p:pic>
      <p:pic>
        <p:nvPicPr>
          <p:cNvPr id="3" name="Imagen 2" descr="reunio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860" y="514350"/>
            <a:ext cx="3924935" cy="5057140"/>
          </a:xfrm>
          <a:prstGeom prst="rect">
            <a:avLst/>
          </a:prstGeom>
        </p:spPr>
      </p:pic>
      <p:pic>
        <p:nvPicPr>
          <p:cNvPr id="4" name="Imagen 3" descr="reuni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4795" y="514350"/>
            <a:ext cx="3902710" cy="505714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14.5229921259843,&quot;left&quot;:50.05716535433071,&quot;top&quot;:95.99133858267717,&quot;width&quot;:811.8856692913384}"/>
</p:tagLst>
</file>

<file path=ppt/tags/tag2.xml><?xml version="1.0" encoding="utf-8"?>
<p:tagLst xmlns:p="http://schemas.openxmlformats.org/presentationml/2006/main">
  <p:tag name="KSO_WM_DIAGRAM_VIRTUALLY_FRAME" val="{&quot;height&quot;:414.5229921259843,&quot;left&quot;:50.05716535433071,&quot;top&quot;:95.99133858267717,&quot;width&quot;:811.8856692913384}"/>
</p:tagLst>
</file>

<file path=ppt/tags/tag3.xml><?xml version="1.0" encoding="utf-8"?>
<p:tagLst xmlns:p="http://schemas.openxmlformats.org/presentationml/2006/main">
  <p:tag name="KSO_WM_DIAGRAM_VIRTUALLY_FRAME" val="{&quot;height&quot;:414.5229921259843,&quot;left&quot;:50.05716535433071,&quot;top&quot;:95.99133858267717,&quot;width&quot;:811.8856692913384}"/>
</p:tagLst>
</file>

<file path=ppt/tags/tag4.xml><?xml version="1.0" encoding="utf-8"?>
<p:tagLst xmlns:p="http://schemas.openxmlformats.org/presentationml/2006/main">
  <p:tag name="KSO_WM_DIAGRAM_VIRTUALLY_FRAME" val="{&quot;height&quot;:414.5229921259843,&quot;left&quot;:50.05716535433071,&quot;top&quot;:95.99133858267717,&quot;width&quot;:811.8856692913384}"/>
</p:tagLst>
</file>

<file path=ppt/tags/tag5.xml><?xml version="1.0" encoding="utf-8"?>
<p:tagLst xmlns:p="http://schemas.openxmlformats.org/presentationml/2006/main">
  <p:tag name="KSO_WM_DIAGRAM_VIRTUALLY_FRAME" val="{&quot;height&quot;:414.5229921259843,&quot;left&quot;:50.05716535433071,&quot;top&quot;:95.99133858267717,&quot;width&quot;:811.8856692913384}"/>
</p:tagLst>
</file>

<file path=ppt/tags/tag6.xml><?xml version="1.0" encoding="utf-8"?>
<p:tagLst xmlns:p="http://schemas.openxmlformats.org/presentationml/2006/main">
  <p:tag name="KSO_WM_DIAGRAM_VIRTUALLY_FRAME" val="{&quot;height&quot;:414.5229921259843,&quot;left&quot;:50.05716535433071,&quot;top&quot;:95.99133858267717,&quot;width&quot;:811.8856692913384}"/>
</p:tagLst>
</file>

<file path=ppt/tags/tag7.xml><?xml version="1.0" encoding="utf-8"?>
<p:tagLst xmlns:p="http://schemas.openxmlformats.org/presentationml/2006/main">
  <p:tag name="KSO_WM_DIAGRAM_VIRTUALLY_FRAME" val="{&quot;height&quot;:414.5229921259843,&quot;left&quot;:50.05716535433071,&quot;top&quot;:95.99133858267717,&quot;width&quot;:811.8856692913384}"/>
</p:tagLst>
</file>

<file path=ppt/tags/tag8.xml><?xml version="1.0" encoding="utf-8"?>
<p:tagLst xmlns:p="http://schemas.openxmlformats.org/presentationml/2006/main">
  <p:tag name="KSO_WM_DIAGRAM_VIRTUALLY_FRAME" val="{&quot;height&quot;:414.5229921259843,&quot;left&quot;:50.05716535433071,&quot;top&quot;:95.99133858267717,&quot;width&quot;:811.8856692913384}"/>
</p:tagLst>
</file>

<file path=ppt/tags/tag9.xml><?xml version="1.0" encoding="utf-8"?>
<p:tagLst xmlns:p="http://schemas.openxmlformats.org/presentationml/2006/main">
  <p:tag name="KSO_WM_DIAGRAM_VIRTUALLY_FRAME" val="{&quot;height&quot;:414.5229921259843,&quot;left&quot;:50.05716535433071,&quot;top&quot;:95.99133858267717,&quot;width&quot;:811.8856692913384}"/>
</p:tagLst>
</file>

<file path=ppt/tags/tag10.xml><?xml version="1.0" encoding="utf-8"?>
<p:tagLst xmlns:p="http://schemas.openxmlformats.org/presentationml/2006/main">
  <p:tag name="KSO_WM_DIAGRAM_VIRTUALLY_FRAME" val="{&quot;height&quot;:825.7724409448817,&quot;left&quot;:24.92023622047244,&quot;top&quot;:121.89976377952755,&quot;width&quot;:1329.6802362204726}"/>
</p:tagLst>
</file>

<file path=ppt/tags/tag11.xml><?xml version="1.0" encoding="utf-8"?>
<p:tagLst xmlns:p="http://schemas.openxmlformats.org/presentationml/2006/main">
  <p:tag name="KSO_WM_DIAGRAM_VIRTUALLY_FRAME" val="{&quot;height&quot;:825.7724409448817,&quot;left&quot;:24.92023622047244,&quot;top&quot;:121.89976377952755,&quot;width&quot;:1329.6802362204726}"/>
</p:tagLst>
</file>

<file path=ppt/tags/tag12.xml><?xml version="1.0" encoding="utf-8"?>
<p:tagLst xmlns:p="http://schemas.openxmlformats.org/presentationml/2006/main">
  <p:tag name="KSO_WM_DIAGRAM_VIRTUALLY_FRAME" val="{&quot;height&quot;:825.7724409448817,&quot;left&quot;:24.92023622047244,&quot;top&quot;:121.89976377952755,&quot;width&quot;:1329.6802362204726}"/>
</p:tagLst>
</file>

<file path=ppt/tags/tag13.xml><?xml version="1.0" encoding="utf-8"?>
<p:tagLst xmlns:p="http://schemas.openxmlformats.org/presentationml/2006/main">
  <p:tag name="KSO_WM_DIAGRAM_VIRTUALLY_FRAME" val="{&quot;height&quot;:825.7724409448817,&quot;left&quot;:24.92023622047244,&quot;top&quot;:121.89976377952755,&quot;width&quot;:1329.6802362204726}"/>
</p:tagLst>
</file>

<file path=ppt/tags/tag14.xml><?xml version="1.0" encoding="utf-8"?>
<p:tagLst xmlns:p="http://schemas.openxmlformats.org/presentationml/2006/main">
  <p:tag name="KSO_WM_DIAGRAM_VIRTUALLY_FRAME" val="{&quot;height&quot;:825.7724409448817,&quot;left&quot;:24.92023622047244,&quot;top&quot;:121.89976377952755,&quot;width&quot;:1329.6802362204726}"/>
</p:tagLst>
</file>

<file path=ppt/tags/tag15.xml><?xml version="1.0" encoding="utf-8"?>
<p:tagLst xmlns:p="http://schemas.openxmlformats.org/presentationml/2006/main">
  <p:tag name="KSO_WM_DIAGRAM_VIRTUALLY_FRAME" val="{&quot;height&quot;:825.7724409448817,&quot;left&quot;:24.92023622047244,&quot;top&quot;:121.89976377952755,&quot;width&quot;:1329.6802362204726}"/>
</p:tagLst>
</file>

<file path=ppt/tags/tag16.xml><?xml version="1.0" encoding="utf-8"?>
<p:tagLst xmlns:p="http://schemas.openxmlformats.org/presentationml/2006/main">
  <p:tag name="KSO_WM_DIAGRAM_VIRTUALLY_FRAME" val="{&quot;height&quot;:825.7724409448817,&quot;left&quot;:24.92023622047244,&quot;top&quot;:121.89976377952755,&quot;width&quot;:1329.6802362204726}"/>
</p:tagLst>
</file>

<file path=ppt/tags/tag17.xml><?xml version="1.0" encoding="utf-8"?>
<p:tagLst xmlns:p="http://schemas.openxmlformats.org/presentationml/2006/main">
  <p:tag name="KSO_WM_DIAGRAM_VIRTUALLY_FRAME" val="{&quot;height&quot;:825.7724409448817,&quot;left&quot;:24.92023622047244,&quot;top&quot;:121.89976377952755,&quot;width&quot;:1329.6802362204726}"/>
</p:tagLst>
</file>

<file path=ppt/tags/tag18.xml><?xml version="1.0" encoding="utf-8"?>
<p:tagLst xmlns:p="http://schemas.openxmlformats.org/presentationml/2006/main">
  <p:tag name="KSO_WM_DIAGRAM_VIRTUALLY_FRAME" val="{&quot;height&quot;:825.7724409448817,&quot;left&quot;:24.92023622047244,&quot;top&quot;:121.89976377952755,&quot;width&quot;:1329.6802362204726}"/>
</p:tagLst>
</file>

<file path=ppt/tags/tag19.xml><?xml version="1.0" encoding="utf-8"?>
<p:tagLst xmlns:p="http://schemas.openxmlformats.org/presentationml/2006/main">
  <p:tag name="KSO_WM_DIAGRAM_VIRTUALLY_FRAME" val="{&quot;height&quot;:825.7724409448817,&quot;left&quot;:24.92023622047244,&quot;top&quot;:121.89976377952755,&quot;width&quot;:1329.6802362204726}"/>
</p:tagLst>
</file>

<file path=ppt/tags/tag20.xml><?xml version="1.0" encoding="utf-8"?>
<p:tagLst xmlns:p="http://schemas.openxmlformats.org/presentationml/2006/main">
  <p:tag name="KSO_WM_DIAGRAM_VIRTUALLY_FRAME" val="{&quot;height&quot;:825.7724409448817,&quot;left&quot;:24.92023622047244,&quot;top&quot;:121.89976377952755,&quot;width&quot;:1329.6802362204726}"/>
</p:tagLst>
</file>

<file path=ppt/tags/tag21.xml><?xml version="1.0" encoding="utf-8"?>
<p:tagLst xmlns:p="http://schemas.openxmlformats.org/presentationml/2006/main">
  <p:tag name="KSO_WM_DIAGRAM_VIRTUALLY_FRAME" val="{&quot;height&quot;:825.7724409448817,&quot;left&quot;:24.92023622047244,&quot;top&quot;:121.89976377952755,&quot;width&quot;:1329.6802362204726}"/>
</p:tagLst>
</file>

<file path=ppt/tags/tag22.xml><?xml version="1.0" encoding="utf-8"?>
<p:tagLst xmlns:p="http://schemas.openxmlformats.org/presentationml/2006/main">
  <p:tag name="TABLE_ENDDRAG_ORIGIN_RECT" val="670*293"/>
  <p:tag name="TABLE_ENDDRAG_RECT" val="145*240*670*293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6101</Words>
  <Application>WPS Presentation</Application>
  <PresentationFormat>Panorámica</PresentationFormat>
  <Paragraphs>429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SimSun</vt:lpstr>
      <vt:lpstr>Wingdings</vt:lpstr>
      <vt:lpstr>Calibri</vt:lpstr>
      <vt:lpstr>Times New Roman</vt:lpstr>
      <vt:lpstr>Verdana</vt:lpstr>
      <vt:lpstr>Calibri (MS) Bold</vt:lpstr>
      <vt:lpstr>Calibri (MS)</vt:lpstr>
      <vt:lpstr>Microsoft YaHei</vt:lpstr>
      <vt:lpstr>Arial Unicode MS</vt:lpstr>
      <vt:lpstr>Calibri Light</vt:lpstr>
      <vt:lpstr>Tema de 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Yaskelly Yedra</dc:creator>
  <cp:lastModifiedBy>RYZEN</cp:lastModifiedBy>
  <cp:revision>31</cp:revision>
  <dcterms:created xsi:type="dcterms:W3CDTF">2024-09-12T15:26:00Z</dcterms:created>
  <dcterms:modified xsi:type="dcterms:W3CDTF">2026-10-02T18:51:04Z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8460A6D480B64D0782E206E074AB0ACC_12</vt:lpwstr>
  </property>
  <property fmtid="{D5CDD505-2E9C-101B-9397-08002B2CF9AE}" pid="3" name="KSOProductBuildVer">
    <vt:lpwstr>3082-12.2.0.23206</vt:lpwstr>
  </property>
</Properties>
</file>